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5.png" ContentType="image/png"/>
  <Override PartName="/ppt/media/image3.png" ContentType="image/png"/>
  <Override PartName="/ppt/media/image18.png" ContentType="image/png"/>
  <Override PartName="/ppt/media/image9.png" ContentType="image/png"/>
  <Override PartName="/ppt/media/image20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40.gif" ContentType="image/gif"/>
  <Override PartName="/ppt/media/image11.png" ContentType="image/png"/>
  <Override PartName="/ppt/media/image2.png" ContentType="image/png"/>
  <Override PartName="/ppt/media/image34.png" ContentType="image/png"/>
  <Override PartName="/ppt/media/image39.png" ContentType="image/png"/>
  <Override PartName="/ppt/media/image7.png" ContentType="image/png"/>
  <Override PartName="/ppt/media/image16.png" ContentType="image/png"/>
  <Override PartName="/ppt/media/image13.jpeg" ContentType="image/jpeg"/>
  <Override PartName="/ppt/media/image4.png" ContentType="image/png"/>
  <Override PartName="/ppt/media/image36.png" ContentType="image/png"/>
  <Override PartName="/ppt/media/image37.png" ContentType="image/png"/>
  <Override PartName="/ppt/media/image5.png" ContentType="image/png"/>
  <Override PartName="/ppt/media/image14.png" ContentType="image/png"/>
  <Override PartName="/ppt/media/image38.png" ContentType="image/png"/>
  <Override PartName="/ppt/media/image6.png" ContentType="image/png"/>
  <Override PartName="/ppt/media/image15.png" ContentType="image/png"/>
  <Override PartName="/ppt/media/image1.jpeg" ContentType="image/jpeg"/>
  <Override PartName="/ppt/media/image10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3600" spc="-1" strike="noStrike">
                <a:solidFill>
                  <a:schemeClr val="dk1"/>
                </a:solidFill>
                <a:latin typeface="Arial"/>
              </a:rPr>
              <a:t>Click to move the slide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0D7E643-7F53-4203-A056-6E0EAC84118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7A83579-811E-4D4D-BF77-711FB8AFC64D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4EB7FEA-5070-4F72-B65A-E514182FA3C5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D8CAF9E-0E34-4373-AD8F-1218A9812D2C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E3A8693-A8C8-4E73-94F1-545B654215C3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4AFD6B0-2DDF-4ECB-9F86-4D4F8E85991C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(a) 2D line equation and (b) 3D plane equation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3EBFA9E-E5FF-4C7C-BB16-2077427C6FD7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8B47B96-F5A5-4CC5-9BCA-7B458ED8C4E3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9392333-5AB1-4073-B460-8414C1CD7958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FB56132-6843-4758-ABCB-ADC19F9FF851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91689F2-1ACB-46FD-AE35-D58CC47FBDDD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Basic set of 2D planar transformations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8B68A4C-A9CA-496D-88BA-1FEF0A26717D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Basic set of 2D planar transformations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259BB1A-FA11-41D8-9BD4-AFCD80D523D6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Basic set of 2D planar transformations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D6E15D1-5638-44F5-AA30-868C371B1974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If we provide values less than 1 to the scaling factor S, then we can reduce the size of the object. If we provide values greater than 1, then we can increase the size of the object.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834DC1-A9E8-4CFA-A77B-447E91EFBBC4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If we provide values less than 1 to the scaling factor S, then we can reduce the size of the object. If we provide values greater than 1, then we can increase the size of the object.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BE3BC31-5B0D-46B6-98C6-51022F701854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similarity preserves not only angles but also parallelismandstraightlines.The2×3matricesareextendedwithathird[0T 1]rowtoform a full 3 × 3 matrix for homogeneous coordinate transformations.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35B55FD-2F64-4323-86A2-3F6AFA0C5C0D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Each transformation also preserves the properties listed in the rows below it, i.e., similarity preserves not only angles but also parallelism and straight lines. The 3 × 4 matrices are extended with a fourth [0T 1] row to form a full 4 × 4 matrix for homogeneous coordinate transformations. The mnemonic icons are drawn in 2D but are meant to suggest transformations occurring in a full 3D cube.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Char char="-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I is the (3 × 3) identity matrix and 0 is the zero vector.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Char char="-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R is a 3 × 3 orthonormal rotation matrix with RRT = I and |R| = 1.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Char char="-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where s is an arbitrary scale factor.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Char char="-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A is an arbitrary 3 × 4 matrix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OpenSymbol"/>
              <a:buChar char="-"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H ̃ is an arbitrary 4 × 4 homogeneous matrix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96FCF10-13AD-4244-BB77-5D208874C4F0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Now that we know how to represent 2D and 3D geometric primitives and how to transform them spatially.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B00135A-EEF3-424C-9976-E721A6046DBB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orthographic projection: p</a:t>
            </a:r>
            <a:r>
              <a:rPr b="0" lang="vi-VN" sz="1200" spc="-1" strike="noStrike">
                <a:solidFill>
                  <a:schemeClr val="dk1"/>
                </a:solidFill>
                <a:latin typeface="+mn-lt"/>
                <a:ea typeface="+mn-ea"/>
              </a:rPr>
              <a:t>hép chiếu vuông góc.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5A7CCAC-18E6-4886-BFE4-270151C7D766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orthographic projection: p</a:t>
            </a:r>
            <a:r>
              <a:rPr b="0" lang="vi-VN" sz="1200" spc="-1" strike="noStrike">
                <a:solidFill>
                  <a:schemeClr val="dk1"/>
                </a:solidFill>
                <a:latin typeface="+mn-lt"/>
                <a:ea typeface="+mn-ea"/>
              </a:rPr>
              <a:t>hép chiếu vuông góc.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A9A6F8B-9642-40F7-A678-26F041DD8426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Lens distortions: </a:t>
            </a:r>
            <a:r>
              <a:rPr b="0" lang="vi-VN" sz="1200" spc="-1" strike="noStrike">
                <a:solidFill>
                  <a:schemeClr val="dk1"/>
                </a:solidFill>
                <a:latin typeface="+mn-lt"/>
                <a:ea typeface="+mn-ea"/>
              </a:rPr>
              <a:t>méo ảnh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EE6ED53-C291-486B-B4CE-354D0F3942E4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Arial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BC42F71-974E-4B65-A83A-B9357160601D}" type="slidenum">
              <a:rPr b="0" lang="en-US" sz="1200" spc="-1" strike="noStrike">
                <a:solidFill>
                  <a:schemeClr val="dk1"/>
                </a:solidFill>
                <a:latin typeface="Arial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63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16EDA6-BC8C-4E19-A0A7-6BE4C71D95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C7B58A-2559-4CB8-8326-F1279C963B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F6E8447-25EB-47CF-9F3A-474CECE40CF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63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3F4795E-5FC7-41D9-9E2E-163E1EE043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28AD1F4-C3AF-4EE4-8021-3D113486C30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63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1E185DE-270A-4500-811E-F3E70F13674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A4E3D39-387C-4BF4-86B5-698796CD60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63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8264F75-E222-45C8-89EC-182AAAD1B6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760D8A6-1912-4D8A-B0CA-060A29B3E0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6BD5207-1373-41DA-8B51-A7D4CA22D3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0325F07C-1A7C-43C3-A750-076AFA428A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10" descr=""/>
          <p:cNvPicPr/>
          <p:nvPr/>
        </p:nvPicPr>
        <p:blipFill>
          <a:blip r:embed="rId2"/>
          <a:stretch/>
        </p:blipFill>
        <p:spPr>
          <a:xfrm>
            <a:off x="0" y="78120"/>
            <a:ext cx="1599840" cy="31968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304920" y="2130480"/>
            <a:ext cx="8457840" cy="1469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002060"/>
                </a:solidFill>
                <a:latin typeface="Arial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457200" y="6629400"/>
            <a:ext cx="1523520" cy="228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002060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2060"/>
                </a:solidFill>
                <a:latin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2514600" y="6629400"/>
            <a:ext cx="4266720" cy="228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rgbClr val="002060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2060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7620120" y="6629400"/>
            <a:ext cx="1066320" cy="228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2060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7395B79-41B1-42CF-AC5E-F9C0E2496EF8}" type="slidenum">
              <a:rPr b="0" lang="en-US" sz="1200" spc="-1" strike="noStrike">
                <a:solidFill>
                  <a:srgbClr val="002060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002060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0" descr=""/>
          <p:cNvPicPr/>
          <p:nvPr/>
        </p:nvPicPr>
        <p:blipFill>
          <a:blip r:embed="rId2"/>
          <a:stretch/>
        </p:blipFill>
        <p:spPr>
          <a:xfrm>
            <a:off x="0" y="78120"/>
            <a:ext cx="1599840" cy="319680"/>
          </a:xfrm>
          <a:prstGeom prst="rect">
            <a:avLst/>
          </a:prstGeom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002060"/>
                </a:solidFill>
                <a:latin typeface="Arial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64E1C4A-E645-4173-9E10-355B27808BCD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0" descr=""/>
          <p:cNvPicPr/>
          <p:nvPr/>
        </p:nvPicPr>
        <p:blipFill>
          <a:blip r:embed="rId2"/>
          <a:stretch/>
        </p:blipFill>
        <p:spPr>
          <a:xfrm>
            <a:off x="0" y="78120"/>
            <a:ext cx="1599840" cy="319680"/>
          </a:xfrm>
          <a:prstGeom prst="rect">
            <a:avLst/>
          </a:prstGeom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 vert="eaVer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002060"/>
                </a:solidFill>
                <a:latin typeface="Arial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D4BEEA3-A62A-4E82-B384-E12B9BB3D302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0" descr=""/>
          <p:cNvPicPr/>
          <p:nvPr/>
        </p:nvPicPr>
        <p:blipFill>
          <a:blip r:embed="rId2"/>
          <a:stretch/>
        </p:blipFill>
        <p:spPr>
          <a:xfrm>
            <a:off x="0" y="78120"/>
            <a:ext cx="1599840" cy="319680"/>
          </a:xfrm>
          <a:prstGeom prst="rect">
            <a:avLst/>
          </a:prstGeom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002060"/>
                </a:solidFill>
                <a:latin typeface="Arial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1"/>
          </p:nvPr>
        </p:nvSpPr>
        <p:spPr>
          <a:xfrm>
            <a:off x="2666880" y="6356520"/>
            <a:ext cx="388584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F49B8ED-75C1-41F5-BFD7-1DF0EF0258B0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10" descr=""/>
          <p:cNvPicPr/>
          <p:nvPr/>
        </p:nvPicPr>
        <p:blipFill>
          <a:blip r:embed="rId2"/>
          <a:stretch/>
        </p:blipFill>
        <p:spPr>
          <a:xfrm>
            <a:off x="0" y="78120"/>
            <a:ext cx="1599840" cy="319680"/>
          </a:xfrm>
          <a:prstGeom prst="rect">
            <a:avLst/>
          </a:prstGeom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rgbClr val="002060"/>
                </a:solidFill>
                <a:latin typeface="Arial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490A4C3-807D-49CC-BBCE-219ED95DE9D7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0" descr=""/>
          <p:cNvPicPr/>
          <p:nvPr/>
        </p:nvPicPr>
        <p:blipFill>
          <a:blip r:embed="rId2"/>
          <a:stretch/>
        </p:blipFill>
        <p:spPr>
          <a:xfrm>
            <a:off x="0" y="78120"/>
            <a:ext cx="1599840" cy="319680"/>
          </a:xfrm>
          <a:prstGeom prst="rect">
            <a:avLst/>
          </a:prstGeom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002060"/>
                </a:solidFill>
                <a:latin typeface="Arial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99BABC4-0B2C-488F-85AD-56D9AF2EC0F8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10" descr=""/>
          <p:cNvPicPr/>
          <p:nvPr/>
        </p:nvPicPr>
        <p:blipFill>
          <a:blip r:embed="rId2"/>
          <a:stretch/>
        </p:blipFill>
        <p:spPr>
          <a:xfrm>
            <a:off x="0" y="78120"/>
            <a:ext cx="1599840" cy="319680"/>
          </a:xfrm>
          <a:prstGeom prst="rect">
            <a:avLst/>
          </a:prstGeom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002060"/>
                </a:solidFill>
                <a:latin typeface="Arial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7C3038F-0EDC-4CB6-9E4E-667D5A246A78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10" descr=""/>
          <p:cNvPicPr/>
          <p:nvPr/>
        </p:nvPicPr>
        <p:blipFill>
          <a:blip r:embed="rId2"/>
          <a:stretch/>
        </p:blipFill>
        <p:spPr>
          <a:xfrm>
            <a:off x="0" y="78120"/>
            <a:ext cx="1599840" cy="319680"/>
          </a:xfrm>
          <a:prstGeom prst="rect">
            <a:avLst/>
          </a:prstGeom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002060"/>
                </a:solidFill>
                <a:latin typeface="Arial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833799A-2FEC-4B08-A78D-153874FB57F1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10" descr=""/>
          <p:cNvPicPr/>
          <p:nvPr/>
        </p:nvPicPr>
        <p:blipFill>
          <a:blip r:embed="rId2"/>
          <a:stretch/>
        </p:blipFill>
        <p:spPr>
          <a:xfrm>
            <a:off x="0" y="78120"/>
            <a:ext cx="1599840" cy="319680"/>
          </a:xfrm>
          <a:prstGeom prst="rect">
            <a:avLst/>
          </a:prstGeom>
          <a:ln w="0">
            <a:noFill/>
          </a:ln>
        </p:spPr>
      </p:pic>
      <p:sp>
        <p:nvSpPr>
          <p:cNvPr id="6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5164094-8A2C-479E-BD4F-2D85CB2ABDA6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10" descr=""/>
          <p:cNvPicPr/>
          <p:nvPr/>
        </p:nvPicPr>
        <p:blipFill>
          <a:blip r:embed="rId2"/>
          <a:stretch/>
        </p:blipFill>
        <p:spPr>
          <a:xfrm>
            <a:off x="0" y="78120"/>
            <a:ext cx="1599840" cy="319680"/>
          </a:xfrm>
          <a:prstGeom prst="rect">
            <a:avLst/>
          </a:prstGeom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2060"/>
                </a:solidFill>
                <a:latin typeface="Arial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09795BB-8CC2-478F-B9A3-2FFABCB57B09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10" descr=""/>
          <p:cNvPicPr/>
          <p:nvPr/>
        </p:nvPicPr>
        <p:blipFill>
          <a:blip r:embed="rId2"/>
          <a:stretch/>
        </p:blipFill>
        <p:spPr>
          <a:xfrm>
            <a:off x="0" y="78120"/>
            <a:ext cx="1599840" cy="319680"/>
          </a:xfrm>
          <a:prstGeom prst="rect">
            <a:avLst/>
          </a:prstGeom>
          <a:ln w="0">
            <a:noFill/>
          </a:ln>
        </p:spPr>
      </p:pic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002060"/>
                </a:solidFill>
                <a:latin typeface="Arial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124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82E27B6-70C9-4CB0-AAC7-83BD695C63C1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0.gif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304920" y="1676520"/>
            <a:ext cx="8534160" cy="2437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002060"/>
                </a:solidFill>
                <a:latin typeface="Arial"/>
              </a:rPr>
              <a:t>Geometric primitives and </a:t>
            </a:r>
            <a:r>
              <a:rPr b="1" lang="en-US" sz="3600" spc="-1" strike="noStrike">
                <a:solidFill>
                  <a:srgbClr val="002060"/>
                </a:solidFill>
                <a:latin typeface="Arial"/>
              </a:rPr>
              <a:t>transformations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Objectives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Study the basic geometric primitive: points, lines, and planes 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2</a:t>
            </a:r>
            <a:r>
              <a:rPr b="0" lang="vi-VN" sz="3200" spc="-1" strike="noStrike">
                <a:solidFill>
                  <a:schemeClr val="dk1"/>
                </a:solidFill>
                <a:latin typeface="Arial"/>
              </a:rPr>
              <a:t>D, 3D geometric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The geometric transformations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L</a:t>
            </a:r>
            <a:r>
              <a:rPr b="0" lang="vi-VN" sz="3200" spc="-1" strike="noStrike">
                <a:solidFill>
                  <a:schemeClr val="dk1"/>
                </a:solidFill>
                <a:latin typeface="Arial"/>
              </a:rPr>
              <a:t>ens distortions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3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E8CA2DA-4A33-4E8B-BA78-07C29F0634BD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91400" y="592920"/>
            <a:ext cx="822924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vi-VN" sz="4000" spc="-1" strike="noStrike">
                <a:solidFill>
                  <a:srgbClr val="002060"/>
                </a:solidFill>
                <a:latin typeface="Arial"/>
              </a:rPr>
              <a:t>What </a:t>
            </a: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is a geometric primitive?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592280"/>
            <a:ext cx="8229240" cy="3131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Geometric primitives are the basic shapes we all know and recognize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Cubes, spheres, cylinders, and cones, 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</a:rPr>
              <a:t>They work just like the blocks in a typical preschool building set</a:t>
            </a:r>
            <a:endParaRPr b="0" lang="en-US" sz="28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89" name="Picture 1" descr=""/>
          <p:cNvPicPr/>
          <p:nvPr/>
        </p:nvPicPr>
        <p:blipFill>
          <a:blip r:embed="rId1"/>
          <a:stretch/>
        </p:blipFill>
        <p:spPr>
          <a:xfrm>
            <a:off x="1371600" y="4114800"/>
            <a:ext cx="7543440" cy="2204280"/>
          </a:xfrm>
          <a:prstGeom prst="rect">
            <a:avLst/>
          </a:prstGeom>
          <a:ln w="0">
            <a:noFill/>
          </a:ln>
        </p:spPr>
      </p:pic>
      <p:sp>
        <p:nvSpPr>
          <p:cNvPr id="90" name="PlaceHolder 3"/>
          <p:cNvSpPr>
            <a:spLocks noGrp="1"/>
          </p:cNvSpPr>
          <p:nvPr>
            <p:ph type="sldNum" idx="3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BBA12DD-139B-4BCA-BA6C-6F0DA7324CC3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Geometric primitive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152280" y="1752480"/>
            <a:ext cx="8762760" cy="4800240"/>
          </a:xfrm>
          <a:prstGeom prst="rect">
            <a:avLst/>
          </a:prstGeom>
          <a:blipFill rotWithShape="0">
            <a:blip r:embed="rId1"/>
            <a:stretch>
              <a:fillRect l="-768" t="-1402"/>
            </a:stretch>
          </a:blipFill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558ed5"/>
              </a:buClr>
              <a:buSzPct val="80000"/>
              <a:buFont typeface="Arial"/>
              <a:buChar char="•"/>
            </a:pPr>
            <a:r>
              <a:rPr b="0" lang="en-US" sz="3200" spc="-1" strike="noStrike">
                <a:solidFill>
                  <a:srgbClr val="ffffff">
                    <a:alpha val="1000"/>
                  </a:srgbClr>
                </a:solidFill>
                <a:latin typeface="Arial"/>
              </a:rPr>
              <a:t> 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93" name="Picture 2" descr=""/>
          <p:cNvPicPr/>
          <p:nvPr/>
        </p:nvPicPr>
        <p:blipFill>
          <a:blip r:embed="rId2"/>
          <a:stretch/>
        </p:blipFill>
        <p:spPr>
          <a:xfrm>
            <a:off x="5029200" y="3765600"/>
            <a:ext cx="3428640" cy="2590560"/>
          </a:xfrm>
          <a:prstGeom prst="rect">
            <a:avLst/>
          </a:prstGeom>
          <a:ln w="0">
            <a:noFill/>
          </a:ln>
        </p:spPr>
      </p:pic>
      <p:sp>
        <p:nvSpPr>
          <p:cNvPr id="94" name="PlaceHolder 3"/>
          <p:cNvSpPr>
            <a:spLocks noGrp="1"/>
          </p:cNvSpPr>
          <p:nvPr>
            <p:ph type="sldNum" idx="3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B6C7DC1-DDD7-402C-8927-D6BEF9AF8F0F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Geometric primitive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152280" y="1752480"/>
            <a:ext cx="8762760" cy="4800240"/>
          </a:xfrm>
          <a:prstGeom prst="rect">
            <a:avLst/>
          </a:prstGeom>
          <a:blipFill rotWithShape="0">
            <a:blip r:embed="rId1"/>
            <a:stretch>
              <a:fillRect l="-768" t="-1402"/>
            </a:stretch>
          </a:blipFill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558ed5"/>
              </a:buClr>
              <a:buSzPct val="80000"/>
              <a:buFont typeface="Arial"/>
              <a:buChar char="•"/>
            </a:pPr>
            <a:r>
              <a:rPr b="0" lang="en-US" sz="3200" spc="-1" strike="noStrike">
                <a:solidFill>
                  <a:srgbClr val="ffffff">
                    <a:alpha val="1000"/>
                  </a:srgbClr>
                </a:solidFill>
                <a:latin typeface="Arial"/>
              </a:rPr>
              <a:t> 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97" name="Picture 3" descr=""/>
          <p:cNvPicPr/>
          <p:nvPr/>
        </p:nvPicPr>
        <p:blipFill>
          <a:blip r:embed="rId2"/>
          <a:stretch/>
        </p:blipFill>
        <p:spPr>
          <a:xfrm>
            <a:off x="304920" y="4114800"/>
            <a:ext cx="6019560" cy="2577600"/>
          </a:xfrm>
          <a:prstGeom prst="rect">
            <a:avLst/>
          </a:prstGeom>
          <a:ln w="0">
            <a:noFill/>
          </a:ln>
        </p:spPr>
      </p:pic>
      <p:sp>
        <p:nvSpPr>
          <p:cNvPr id="98" name="PlaceHolder 3"/>
          <p:cNvSpPr>
            <a:spLocks noGrp="1"/>
          </p:cNvSpPr>
          <p:nvPr>
            <p:ph type="sldNum" idx="4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0CE7169-954C-4316-8E7C-7A684704B4A2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Geometric primitive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52280" y="1752480"/>
            <a:ext cx="8762760" cy="480024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558ed5"/>
              </a:buClr>
              <a:buSzPct val="80000"/>
              <a:buFont typeface="Arial"/>
              <a:buChar char="•"/>
            </a:pPr>
            <a:r>
              <a:rPr b="0" lang="en-US" sz="3200" spc="-1" strike="noStrike">
                <a:solidFill>
                  <a:srgbClr val="ffffff">
                    <a:alpha val="1000"/>
                  </a:srgbClr>
                </a:solidFill>
                <a:latin typeface="Arial"/>
              </a:rPr>
              <a:t> 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01" name="Picture 2" descr=""/>
          <p:cNvPicPr/>
          <p:nvPr/>
        </p:nvPicPr>
        <p:blipFill>
          <a:blip r:embed="rId2"/>
          <a:stretch/>
        </p:blipFill>
        <p:spPr>
          <a:xfrm>
            <a:off x="838080" y="3709080"/>
            <a:ext cx="7695720" cy="2829600"/>
          </a:xfrm>
          <a:prstGeom prst="rect">
            <a:avLst/>
          </a:prstGeom>
          <a:ln w="0">
            <a:noFill/>
          </a:ln>
        </p:spPr>
      </p:pic>
      <p:sp>
        <p:nvSpPr>
          <p:cNvPr id="102" name="PlaceHolder 3"/>
          <p:cNvSpPr>
            <a:spLocks noGrp="1"/>
          </p:cNvSpPr>
          <p:nvPr>
            <p:ph type="sldNum" idx="4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BBE8FD2-A6F9-41CC-BB45-D3ABBE080578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Geometric primitive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190440" y="1553040"/>
            <a:ext cx="8762760" cy="4800240"/>
          </a:xfrm>
          <a:prstGeom prst="rect">
            <a:avLst/>
          </a:prstGeom>
          <a:blipFill rotWithShape="0">
            <a:blip r:embed="rId1"/>
            <a:stretch>
              <a:fillRect l="-768" t="-1402"/>
            </a:stretch>
          </a:blipFill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558ed5"/>
              </a:buClr>
              <a:buSzPct val="80000"/>
              <a:buFont typeface="Arial"/>
              <a:buChar char="•"/>
            </a:pPr>
            <a:r>
              <a:rPr b="0" lang="en-US" sz="3200" spc="-1" strike="noStrike">
                <a:solidFill>
                  <a:srgbClr val="ffffff">
                    <a:alpha val="1000"/>
                  </a:srgbClr>
                </a:solidFill>
                <a:latin typeface="Arial"/>
              </a:rPr>
              <a:t> 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4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23674B2-CE73-4454-B060-37BB7A6E2BF6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/22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6" name="Picture 3" descr=""/>
          <p:cNvPicPr/>
          <p:nvPr/>
        </p:nvPicPr>
        <p:blipFill>
          <a:blip r:embed="rId2"/>
          <a:stretch/>
        </p:blipFill>
        <p:spPr>
          <a:xfrm>
            <a:off x="1186920" y="4572000"/>
            <a:ext cx="5257440" cy="2209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Geometric primitive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190440" y="1553040"/>
            <a:ext cx="8762760" cy="4800240"/>
          </a:xfrm>
          <a:prstGeom prst="rect">
            <a:avLst/>
          </a:prstGeom>
          <a:blipFill rotWithShape="0">
            <a:blip r:embed="rId1"/>
            <a:stretch>
              <a:fillRect l="-768" t="-1402"/>
            </a:stretch>
          </a:blipFill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558ed5"/>
              </a:buClr>
              <a:buSzPct val="80000"/>
              <a:buFont typeface="Arial"/>
              <a:buChar char="•"/>
            </a:pPr>
            <a:r>
              <a:rPr b="0" lang="en-US" sz="3200" spc="-1" strike="noStrike">
                <a:solidFill>
                  <a:srgbClr val="ffffff">
                    <a:alpha val="1000"/>
                  </a:srgbClr>
                </a:solidFill>
                <a:latin typeface="Arial"/>
              </a:rPr>
              <a:t> 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4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1768115-A7E0-4038-91C7-E6F3BFBFD143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0" name="Picture 2" descr=""/>
          <p:cNvPicPr/>
          <p:nvPr/>
        </p:nvPicPr>
        <p:blipFill>
          <a:blip r:embed="rId2"/>
          <a:stretch/>
        </p:blipFill>
        <p:spPr>
          <a:xfrm>
            <a:off x="2971800" y="4238280"/>
            <a:ext cx="3987360" cy="2514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Transformations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190440" y="1589040"/>
            <a:ext cx="8762760" cy="4800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Graph transformation is the process by which an existing graph, or graphed equation, is modified to produce a variation of the proceeding graph. 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Arial"/>
              <a:buChar char="•"/>
            </a:pPr>
            <a:r>
              <a:rPr b="0" lang="vi-VN" sz="2000" spc="-1" strike="noStrike">
                <a:solidFill>
                  <a:schemeClr val="dk1"/>
                </a:solidFill>
                <a:latin typeface="Arial"/>
              </a:rPr>
              <a:t>Image transformation is 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a function or operator that takes an image as its input and produces an image as its output. 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Geometric transformation it means changing the geometry of an image. A set of image transformations where the geometry of image is changed without altering its actual pixel values are commonly referred to as “Geometric” transformation.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br>
              <a:rPr sz="1600"/>
            </a:b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4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70ED165-7D56-4954-A938-37A50890325F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4" name="Picture 2" descr=""/>
          <p:cNvPicPr/>
          <p:nvPr/>
        </p:nvPicPr>
        <p:blipFill>
          <a:blip r:embed="rId1"/>
          <a:stretch/>
        </p:blipFill>
        <p:spPr>
          <a:xfrm>
            <a:off x="3733920" y="4343400"/>
            <a:ext cx="4533480" cy="2288520"/>
          </a:xfrm>
          <a:prstGeom prst="rect">
            <a:avLst/>
          </a:prstGeom>
          <a:ln w="0">
            <a:noFill/>
          </a:ln>
        </p:spPr>
      </p:pic>
      <p:sp>
        <p:nvSpPr>
          <p:cNvPr id="115" name="TextBox 4"/>
          <p:cNvSpPr/>
          <p:nvPr/>
        </p:nvSpPr>
        <p:spPr>
          <a:xfrm>
            <a:off x="838080" y="5373720"/>
            <a:ext cx="1676160" cy="65376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rial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2</a:t>
            </a:r>
            <a:r>
              <a:rPr b="1" lang="vi-VN" sz="4000" spc="-1" strike="noStrike">
                <a:solidFill>
                  <a:srgbClr val="002060"/>
                </a:solidFill>
                <a:latin typeface="Arial"/>
              </a:rPr>
              <a:t>D </a:t>
            </a: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Transformations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ldNum" idx="4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1205519-7DB1-47AA-99AD-ED03735C3875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8" name="Picture 3" descr=""/>
          <p:cNvPicPr/>
          <p:nvPr/>
        </p:nvPicPr>
        <p:blipFill>
          <a:blip r:embed="rId1"/>
          <a:stretch/>
        </p:blipFill>
        <p:spPr>
          <a:xfrm>
            <a:off x="2209680" y="2719800"/>
            <a:ext cx="6552720" cy="3229200"/>
          </a:xfrm>
          <a:prstGeom prst="rect">
            <a:avLst/>
          </a:prstGeom>
          <a:ln w="0">
            <a:noFill/>
          </a:ln>
        </p:spPr>
      </p:pic>
      <p:sp>
        <p:nvSpPr>
          <p:cNvPr id="119" name="Rectangle 3"/>
          <p:cNvSpPr/>
          <p:nvPr/>
        </p:nvSpPr>
        <p:spPr>
          <a:xfrm>
            <a:off x="190440" y="1553040"/>
            <a:ext cx="8762760" cy="233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vi-VN" sz="2000" spc="-1" strike="noStrike">
                <a:solidFill>
                  <a:schemeClr val="dk1"/>
                </a:solidFill>
                <a:latin typeface="Arial"/>
              </a:rPr>
              <a:t>Basic set of 2D planar transformations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vi-VN" sz="1600" spc="-1" strike="noStrike">
                <a:solidFill>
                  <a:schemeClr val="dk1"/>
                </a:solidFill>
                <a:latin typeface="Arial"/>
              </a:rPr>
              <a:t>Translation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vi-VN" sz="1600" spc="-1" strike="noStrike">
                <a:solidFill>
                  <a:schemeClr val="dk1"/>
                </a:solidFill>
                <a:latin typeface="Arial"/>
              </a:rPr>
              <a:t>Euclidean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vi-VN" sz="1600" spc="-1" strike="noStrike">
                <a:solidFill>
                  <a:schemeClr val="dk1"/>
                </a:solidFill>
                <a:latin typeface="Arial"/>
              </a:rPr>
              <a:t>Similarity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A</a:t>
            </a:r>
            <a:r>
              <a:rPr b="0" lang="vi-VN" sz="1600" spc="-1" strike="noStrike">
                <a:solidFill>
                  <a:schemeClr val="dk1"/>
                </a:solidFill>
                <a:latin typeface="Arial"/>
              </a:rPr>
              <a:t>ffine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vi-VN" sz="1600" spc="-1" strike="noStrike">
                <a:solidFill>
                  <a:schemeClr val="dk1"/>
                </a:solidFill>
                <a:latin typeface="Arial"/>
              </a:rPr>
              <a:t>Projective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br>
              <a:rPr sz="1600"/>
            </a:b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2</a:t>
            </a:r>
            <a:r>
              <a:rPr b="1" lang="vi-VN" sz="4000" spc="-1" strike="noStrike">
                <a:solidFill>
                  <a:srgbClr val="002060"/>
                </a:solidFill>
                <a:latin typeface="Arial"/>
              </a:rPr>
              <a:t>D </a:t>
            </a: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Transformations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ldNum" idx="4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0FDF8D8-6ADE-4BF8-9106-9C32E0F81668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Rectangle 3"/>
          <p:cNvSpPr/>
          <p:nvPr/>
        </p:nvSpPr>
        <p:spPr>
          <a:xfrm>
            <a:off x="190440" y="1553040"/>
            <a:ext cx="8762760" cy="19515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rial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Picture 2" descr=""/>
          <p:cNvPicPr/>
          <p:nvPr/>
        </p:nvPicPr>
        <p:blipFill>
          <a:blip r:embed="rId2"/>
          <a:stretch/>
        </p:blipFill>
        <p:spPr>
          <a:xfrm>
            <a:off x="5295960" y="3731040"/>
            <a:ext cx="3657240" cy="2625120"/>
          </a:xfrm>
          <a:prstGeom prst="rect">
            <a:avLst/>
          </a:prstGeom>
          <a:ln w="0">
            <a:noFill/>
          </a:ln>
        </p:spPr>
      </p:pic>
      <p:sp>
        <p:nvSpPr>
          <p:cNvPr id="124" name="TextBox 4"/>
          <p:cNvSpPr/>
          <p:nvPr/>
        </p:nvSpPr>
        <p:spPr>
          <a:xfrm>
            <a:off x="762120" y="4648320"/>
            <a:ext cx="4723920" cy="92304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rial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2</a:t>
            </a:r>
            <a:r>
              <a:rPr b="1" lang="vi-VN" sz="4000" spc="-1" strike="noStrike">
                <a:solidFill>
                  <a:srgbClr val="002060"/>
                </a:solidFill>
                <a:latin typeface="Arial"/>
              </a:rPr>
              <a:t>D </a:t>
            </a: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Transformations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sldNum" idx="4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8D04922-881D-468C-9CB5-D6E7EBD7152C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Rectangle 3"/>
          <p:cNvSpPr/>
          <p:nvPr/>
        </p:nvSpPr>
        <p:spPr>
          <a:xfrm>
            <a:off x="190440" y="1553040"/>
            <a:ext cx="8762760" cy="19515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rial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" name="Picture 3" descr=""/>
          <p:cNvPicPr/>
          <p:nvPr/>
        </p:nvPicPr>
        <p:blipFill>
          <a:blip r:embed="rId2"/>
          <a:stretch/>
        </p:blipFill>
        <p:spPr>
          <a:xfrm>
            <a:off x="4985280" y="3414600"/>
            <a:ext cx="4002120" cy="273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2</a:t>
            </a:r>
            <a:r>
              <a:rPr b="1" lang="vi-VN" sz="4000" spc="-1" strike="noStrike">
                <a:solidFill>
                  <a:srgbClr val="002060"/>
                </a:solidFill>
                <a:latin typeface="Arial"/>
              </a:rPr>
              <a:t>D </a:t>
            </a: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Transformations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sldNum" idx="4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5461AD8-1323-4615-BA07-A14244E96F72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Rectangle 3"/>
          <p:cNvSpPr/>
          <p:nvPr/>
        </p:nvSpPr>
        <p:spPr>
          <a:xfrm>
            <a:off x="190440" y="1553040"/>
            <a:ext cx="8762760" cy="19515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rial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4"/>
          <p:cNvSpPr/>
          <p:nvPr/>
        </p:nvSpPr>
        <p:spPr>
          <a:xfrm>
            <a:off x="762120" y="4648320"/>
            <a:ext cx="4723920" cy="9230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rial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Picture 3" descr=""/>
          <p:cNvPicPr/>
          <p:nvPr/>
        </p:nvPicPr>
        <p:blipFill>
          <a:blip r:embed="rId3"/>
          <a:stretch/>
        </p:blipFill>
        <p:spPr>
          <a:xfrm>
            <a:off x="4280400" y="3976560"/>
            <a:ext cx="2267280" cy="1955520"/>
          </a:xfrm>
          <a:prstGeom prst="rect">
            <a:avLst/>
          </a:prstGeom>
          <a:ln w="0">
            <a:noFill/>
          </a:ln>
        </p:spPr>
      </p:pic>
      <p:pic>
        <p:nvPicPr>
          <p:cNvPr id="134" name="Picture 5" descr=""/>
          <p:cNvPicPr/>
          <p:nvPr/>
        </p:nvPicPr>
        <p:blipFill>
          <a:blip r:embed="rId4"/>
          <a:stretch/>
        </p:blipFill>
        <p:spPr>
          <a:xfrm>
            <a:off x="6548040" y="3940920"/>
            <a:ext cx="2271960" cy="1991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2</a:t>
            </a:r>
            <a:r>
              <a:rPr b="1" lang="vi-VN" sz="4000" spc="-1" strike="noStrike">
                <a:solidFill>
                  <a:srgbClr val="002060"/>
                </a:solidFill>
                <a:latin typeface="Arial"/>
              </a:rPr>
              <a:t>D </a:t>
            </a: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Transformations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sldNum" idx="4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1AD2B2E-147F-4718-A03B-6FD5309426AC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Rectangle 3"/>
          <p:cNvSpPr/>
          <p:nvPr/>
        </p:nvSpPr>
        <p:spPr>
          <a:xfrm>
            <a:off x="190440" y="1553040"/>
            <a:ext cx="8762760" cy="23328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rial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4"/>
          <p:cNvSpPr/>
          <p:nvPr/>
        </p:nvSpPr>
        <p:spPr>
          <a:xfrm>
            <a:off x="914400" y="4861440"/>
            <a:ext cx="2971440" cy="6062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rial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" name="Picture 2" descr=""/>
          <p:cNvPicPr/>
          <p:nvPr/>
        </p:nvPicPr>
        <p:blipFill>
          <a:blip r:embed="rId3"/>
          <a:stretch/>
        </p:blipFill>
        <p:spPr>
          <a:xfrm>
            <a:off x="4724280" y="4199760"/>
            <a:ext cx="4266720" cy="204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2</a:t>
            </a:r>
            <a:r>
              <a:rPr b="1" lang="vi-VN" sz="4000" spc="-1" strike="noStrike">
                <a:solidFill>
                  <a:srgbClr val="002060"/>
                </a:solidFill>
                <a:latin typeface="Arial"/>
              </a:rPr>
              <a:t>D </a:t>
            </a: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Transformations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sldNum" idx="5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A94DF6B-D1ED-4A38-93B4-A89143A9ABEC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Rectangle 3"/>
          <p:cNvSpPr/>
          <p:nvPr/>
        </p:nvSpPr>
        <p:spPr>
          <a:xfrm>
            <a:off x="190440" y="1553040"/>
            <a:ext cx="8762760" cy="23328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rial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3" name="Picture 5" descr=""/>
          <p:cNvPicPr/>
          <p:nvPr/>
        </p:nvPicPr>
        <p:blipFill>
          <a:blip r:embed="rId2"/>
          <a:stretch/>
        </p:blipFill>
        <p:spPr>
          <a:xfrm>
            <a:off x="5638680" y="4267080"/>
            <a:ext cx="3478680" cy="1968120"/>
          </a:xfrm>
          <a:prstGeom prst="rect">
            <a:avLst/>
          </a:prstGeom>
          <a:ln w="0">
            <a:noFill/>
          </a:ln>
        </p:spPr>
      </p:pic>
      <p:pic>
        <p:nvPicPr>
          <p:cNvPr id="144" name="Picture 6" descr=""/>
          <p:cNvPicPr/>
          <p:nvPr/>
        </p:nvPicPr>
        <p:blipFill>
          <a:blip r:embed="rId3"/>
          <a:stretch/>
        </p:blipFill>
        <p:spPr>
          <a:xfrm>
            <a:off x="1523880" y="4293360"/>
            <a:ext cx="2679480" cy="683640"/>
          </a:xfrm>
          <a:prstGeom prst="rect">
            <a:avLst/>
          </a:prstGeom>
          <a:ln w="0">
            <a:noFill/>
          </a:ln>
        </p:spPr>
      </p:pic>
      <p:pic>
        <p:nvPicPr>
          <p:cNvPr id="145" name="Picture 7" descr=""/>
          <p:cNvPicPr/>
          <p:nvPr/>
        </p:nvPicPr>
        <p:blipFill>
          <a:blip r:embed="rId4"/>
          <a:stretch/>
        </p:blipFill>
        <p:spPr>
          <a:xfrm>
            <a:off x="1627920" y="5366160"/>
            <a:ext cx="2565000" cy="601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2</a:t>
            </a:r>
            <a:r>
              <a:rPr b="1" lang="vi-VN" sz="4000" spc="-1" strike="noStrike">
                <a:solidFill>
                  <a:srgbClr val="002060"/>
                </a:solidFill>
                <a:latin typeface="Arial"/>
              </a:rPr>
              <a:t>D </a:t>
            </a: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Transformations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sldNum" idx="5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691C287-7FF1-4B0A-9050-86843564C2EA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48" name="Picture 2" descr=""/>
          <p:cNvPicPr/>
          <p:nvPr/>
        </p:nvPicPr>
        <p:blipFill>
          <a:blip r:embed="rId1"/>
          <a:stretch/>
        </p:blipFill>
        <p:spPr>
          <a:xfrm>
            <a:off x="449280" y="1734120"/>
            <a:ext cx="7772040" cy="4487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3</a:t>
            </a:r>
            <a:r>
              <a:rPr b="1" lang="vi-VN" sz="4000" spc="-1" strike="noStrike">
                <a:solidFill>
                  <a:srgbClr val="002060"/>
                </a:solidFill>
                <a:latin typeface="Arial"/>
              </a:rPr>
              <a:t>D </a:t>
            </a: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Transformations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sldNum" idx="5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AB330A6-D49B-4BF0-AC14-F918601BE2D0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Rectangle 3"/>
          <p:cNvSpPr/>
          <p:nvPr/>
        </p:nvSpPr>
        <p:spPr>
          <a:xfrm>
            <a:off x="190440" y="1553040"/>
            <a:ext cx="8762760" cy="233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vi-VN" sz="2000" spc="-1" strike="noStrike">
                <a:solidFill>
                  <a:schemeClr val="dk1"/>
                </a:solidFill>
                <a:latin typeface="Arial"/>
              </a:rPr>
              <a:t>What are different to 2D transformations?</a:t>
            </a:r>
            <a:r>
              <a:rPr b="0" lang="vi-VN" sz="2000" spc="-1" strike="noStrike">
                <a:solidFill>
                  <a:schemeClr val="dk1"/>
                </a:solidFill>
                <a:latin typeface="Wingdings"/>
              </a:rPr>
              <a:t></a:t>
            </a: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  </a:t>
            </a:r>
            <a:r>
              <a:rPr b="0" lang="vi-VN" sz="2000" spc="-1" strike="noStrike">
                <a:solidFill>
                  <a:schemeClr val="dk1"/>
                </a:solidFill>
                <a:latin typeface="Arial"/>
              </a:rPr>
              <a:t>write your answer !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br>
              <a:rPr sz="1600"/>
            </a:b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2" name="Picture 4" descr=""/>
          <p:cNvPicPr/>
          <p:nvPr/>
        </p:nvPicPr>
        <p:blipFill>
          <a:blip r:embed="rId1"/>
          <a:stretch/>
        </p:blipFill>
        <p:spPr>
          <a:xfrm>
            <a:off x="457200" y="1965960"/>
            <a:ext cx="8076960" cy="4390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3</a:t>
            </a:r>
            <a:r>
              <a:rPr b="1" lang="vi-VN" sz="4000" spc="-1" strike="noStrike">
                <a:solidFill>
                  <a:srgbClr val="002060"/>
                </a:solidFill>
                <a:latin typeface="Arial"/>
              </a:rPr>
              <a:t>D to </a:t>
            </a: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2</a:t>
            </a:r>
            <a:r>
              <a:rPr b="1" lang="vi-VN" sz="4000" spc="-1" strike="noStrike">
                <a:solidFill>
                  <a:srgbClr val="002060"/>
                </a:solidFill>
                <a:latin typeface="Arial"/>
              </a:rPr>
              <a:t>D projections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sldNum" idx="5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7F06A1D-0F53-4363-A357-01E269FDCFEA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Rectangle 3"/>
          <p:cNvSpPr/>
          <p:nvPr/>
        </p:nvSpPr>
        <p:spPr>
          <a:xfrm>
            <a:off x="190440" y="1553040"/>
            <a:ext cx="8762760" cy="530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vi-VN" sz="1800" spc="-1" strike="noStrike">
                <a:solidFill>
                  <a:schemeClr val="dk1"/>
                </a:solidFill>
                <a:latin typeface="Arial"/>
              </a:rPr>
              <a:t>What is projections 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vi-VN" sz="1800" spc="-1" strike="noStrike">
                <a:solidFill>
                  <a:schemeClr val="dk1"/>
                </a:solidFill>
                <a:latin typeface="Arial"/>
              </a:rPr>
              <a:t>H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ow 3D primitives are projected onto the image 3</a:t>
            </a:r>
            <a:r>
              <a:rPr b="0" lang="vi-VN" sz="1800" spc="-1" strike="noStrike">
                <a:solidFill>
                  <a:schemeClr val="dk1"/>
                </a:solidFill>
                <a:latin typeface="Arial"/>
              </a:rPr>
              <a:t>D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plane?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vi-VN" sz="1800" spc="-1" strike="noStrike">
                <a:solidFill>
                  <a:schemeClr val="dk1"/>
                </a:solidFill>
                <a:latin typeface="Arial"/>
              </a:rPr>
              <a:t>L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inear 3D to 2D projection matrix.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vi-VN" sz="1800" spc="-1" strike="noStrike">
                <a:solidFill>
                  <a:schemeClr val="dk1"/>
                </a:solidFill>
                <a:latin typeface="Arial"/>
              </a:rPr>
              <a:t>O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rthography, which requires no division to get the final (inhomogeneous) result.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vi-VN" sz="1800" spc="-1" strike="noStrike">
                <a:solidFill>
                  <a:schemeClr val="dk1"/>
                </a:solidFill>
                <a:latin typeface="Arial"/>
              </a:rPr>
              <a:t>P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erspective since this more accurately models the behavior of real cameras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Commonly used projection models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vi-VN" sz="1600" spc="-1" strike="noStrike">
                <a:solidFill>
                  <a:schemeClr val="dk1"/>
                </a:solidFill>
                <a:latin typeface="Arial"/>
              </a:rPr>
              <a:t>O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rthography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vi-VN" sz="1600" spc="-1" strike="noStrike">
                <a:solidFill>
                  <a:schemeClr val="dk1"/>
                </a:solidFill>
                <a:latin typeface="Arial"/>
              </a:rPr>
              <a:t>S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caled orthography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vi-VN" sz="1600" spc="-1" strike="noStrike">
                <a:solidFill>
                  <a:schemeClr val="dk1"/>
                </a:solidFill>
                <a:latin typeface="Arial"/>
              </a:rPr>
              <a:t>P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ara-perspective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vi-VN" sz="1600" spc="-1" strike="noStrike">
                <a:solidFill>
                  <a:schemeClr val="dk1"/>
                </a:solidFill>
                <a:latin typeface="Arial"/>
              </a:rPr>
              <a:t>P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erspective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vi-VN" sz="1600" spc="-1" strike="noStrike">
                <a:solidFill>
                  <a:schemeClr val="dk1"/>
                </a:solidFill>
                <a:latin typeface="Arial"/>
              </a:rPr>
              <a:t>O</a:t>
            </a: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bject-centered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br>
              <a:rPr sz="1600"/>
            </a:b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3</a:t>
            </a:r>
            <a:r>
              <a:rPr b="1" lang="vi-VN" sz="4000" spc="-1" strike="noStrike">
                <a:solidFill>
                  <a:srgbClr val="002060"/>
                </a:solidFill>
                <a:latin typeface="Arial"/>
              </a:rPr>
              <a:t>D to </a:t>
            </a: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2</a:t>
            </a:r>
            <a:r>
              <a:rPr b="1" lang="vi-VN" sz="4000" spc="-1" strike="noStrike">
                <a:solidFill>
                  <a:srgbClr val="002060"/>
                </a:solidFill>
                <a:latin typeface="Arial"/>
              </a:rPr>
              <a:t>D projections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sldNum" idx="5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0FC1DE6-330E-4CEE-A106-BB69385B56D0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Rectangle 3"/>
          <p:cNvSpPr/>
          <p:nvPr/>
        </p:nvSpPr>
        <p:spPr>
          <a:xfrm>
            <a:off x="76320" y="1553040"/>
            <a:ext cx="8876880" cy="530460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Arial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9" name="Picture 2" descr=""/>
          <p:cNvPicPr/>
          <p:nvPr/>
        </p:nvPicPr>
        <p:blipFill>
          <a:blip r:embed="rId2"/>
          <a:stretch/>
        </p:blipFill>
        <p:spPr>
          <a:xfrm>
            <a:off x="3809880" y="2590920"/>
            <a:ext cx="2374560" cy="1154880"/>
          </a:xfrm>
          <a:prstGeom prst="rect">
            <a:avLst/>
          </a:prstGeom>
          <a:ln w="0">
            <a:noFill/>
          </a:ln>
        </p:spPr>
      </p:pic>
      <p:pic>
        <p:nvPicPr>
          <p:cNvPr id="160" name="Picture 3" descr=""/>
          <p:cNvPicPr/>
          <p:nvPr/>
        </p:nvPicPr>
        <p:blipFill>
          <a:blip r:embed="rId3"/>
          <a:stretch/>
        </p:blipFill>
        <p:spPr>
          <a:xfrm>
            <a:off x="420120" y="3716280"/>
            <a:ext cx="4857480" cy="266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3</a:t>
            </a:r>
            <a:r>
              <a:rPr b="1" lang="vi-VN" sz="4000" spc="-1" strike="noStrike">
                <a:solidFill>
                  <a:srgbClr val="002060"/>
                </a:solidFill>
                <a:latin typeface="Arial"/>
              </a:rPr>
              <a:t>D to </a:t>
            </a: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2</a:t>
            </a:r>
            <a:r>
              <a:rPr b="1" lang="vi-VN" sz="4000" spc="-1" strike="noStrike">
                <a:solidFill>
                  <a:srgbClr val="002060"/>
                </a:solidFill>
                <a:latin typeface="Arial"/>
              </a:rPr>
              <a:t>D projections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sldNum" idx="5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4057635-C82E-45E8-B1C5-66FE94482BA7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Rectangle 3"/>
          <p:cNvSpPr/>
          <p:nvPr/>
        </p:nvSpPr>
        <p:spPr>
          <a:xfrm>
            <a:off x="76320" y="1553040"/>
            <a:ext cx="8876880" cy="530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Perspective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When we view scenes in everyday life far away items appear small relative to nearer items.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A side effect of perspective projection is that parallel lines appear to converge on a vanishing point.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41"/>
              </a:spcBef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br>
              <a:rPr sz="1600"/>
            </a:b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4" name="Picture 4" descr=""/>
          <p:cNvPicPr/>
          <p:nvPr/>
        </p:nvPicPr>
        <p:blipFill>
          <a:blip r:embed="rId1"/>
          <a:stretch/>
        </p:blipFill>
        <p:spPr>
          <a:xfrm>
            <a:off x="4876920" y="3224880"/>
            <a:ext cx="4038120" cy="3131280"/>
          </a:xfrm>
          <a:prstGeom prst="rect">
            <a:avLst/>
          </a:prstGeom>
          <a:ln w="0">
            <a:noFill/>
          </a:ln>
        </p:spPr>
      </p:pic>
      <p:pic>
        <p:nvPicPr>
          <p:cNvPr id="165" name="Picture 5" descr=""/>
          <p:cNvPicPr/>
          <p:nvPr/>
        </p:nvPicPr>
        <p:blipFill>
          <a:blip r:embed="rId2"/>
          <a:stretch/>
        </p:blipFill>
        <p:spPr>
          <a:xfrm>
            <a:off x="1600200" y="3901680"/>
            <a:ext cx="1899720" cy="888480"/>
          </a:xfrm>
          <a:prstGeom prst="rect">
            <a:avLst/>
          </a:prstGeom>
          <a:ln w="0">
            <a:noFill/>
          </a:ln>
        </p:spPr>
      </p:pic>
      <p:pic>
        <p:nvPicPr>
          <p:cNvPr id="166" name="Picture 6" descr=""/>
          <p:cNvPicPr/>
          <p:nvPr/>
        </p:nvPicPr>
        <p:blipFill>
          <a:blip r:embed="rId3"/>
          <a:stretch/>
        </p:blipFill>
        <p:spPr>
          <a:xfrm>
            <a:off x="1600200" y="5323320"/>
            <a:ext cx="1938600" cy="894960"/>
          </a:xfrm>
          <a:prstGeom prst="rect">
            <a:avLst/>
          </a:prstGeom>
          <a:ln w="0">
            <a:noFill/>
          </a:ln>
        </p:spPr>
      </p:pic>
      <p:sp>
        <p:nvSpPr>
          <p:cNvPr id="167" name="TextBox 7"/>
          <p:cNvSpPr/>
          <p:nvPr/>
        </p:nvSpPr>
        <p:spPr>
          <a:xfrm>
            <a:off x="1026360" y="3532320"/>
            <a:ext cx="3128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Inhomogeneous coordinates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10"/>
          <p:cNvSpPr/>
          <p:nvPr/>
        </p:nvSpPr>
        <p:spPr>
          <a:xfrm>
            <a:off x="1032120" y="4810680"/>
            <a:ext cx="2976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Homogeneous coordinates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Lens distortions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ldNum" idx="5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16046C0-0876-41FA-82B6-410F7C6718FC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Rectangle 3"/>
          <p:cNvSpPr/>
          <p:nvPr/>
        </p:nvSpPr>
        <p:spPr>
          <a:xfrm>
            <a:off x="190440" y="1553040"/>
            <a:ext cx="8762760" cy="530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vi-VN" sz="18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ameras obey a </a:t>
            </a:r>
            <a:r>
              <a:rPr b="0" i="1" lang="en-US" sz="1800" spc="-1" strike="noStrike">
                <a:solidFill>
                  <a:schemeClr val="dk1"/>
                </a:solidFill>
                <a:latin typeface="Arial"/>
              </a:rPr>
              <a:t>linear 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projection model where straight lines in the world result in straight lines in the image. Is it true in all cases?</a:t>
            </a:r>
            <a:r>
              <a:rPr b="0" lang="en-US" sz="1800" spc="-1" strike="noStrike">
                <a:solidFill>
                  <a:schemeClr val="dk1"/>
                </a:solidFill>
                <a:latin typeface="Wingdings"/>
              </a:rPr>
              <a:t></a:t>
            </a: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1" lang="vi-VN" sz="1800" spc="-1" strike="noStrike">
                <a:solidFill>
                  <a:schemeClr val="dk1"/>
                </a:solidFill>
                <a:latin typeface="Arial"/>
              </a:rPr>
              <a:t>No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Many wide-angle lenses have distortion --&gt; visible curvature in the projection of straight lines.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558ed5"/>
              </a:buClr>
              <a:buSzPct val="80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Distortion occurs when the linear magnification is a function of the off-axis distance.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br>
              <a:rPr sz="1600"/>
            </a:b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2" name="Picture 2" descr=""/>
          <p:cNvPicPr/>
          <p:nvPr/>
        </p:nvPicPr>
        <p:blipFill>
          <a:blip r:embed="rId1"/>
          <a:stretch/>
        </p:blipFill>
        <p:spPr>
          <a:xfrm>
            <a:off x="781200" y="3198960"/>
            <a:ext cx="7581600" cy="333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228600" y="274680"/>
            <a:ext cx="8610120" cy="1142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2060"/>
                </a:solidFill>
                <a:latin typeface="Arial"/>
              </a:rPr>
              <a:t>Summary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Study the basic geometric primitive: points, lines, and planes 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2</a:t>
            </a:r>
            <a:r>
              <a:rPr b="0" lang="vi-VN" sz="3200" spc="-1" strike="noStrike">
                <a:solidFill>
                  <a:schemeClr val="dk1"/>
                </a:solidFill>
                <a:latin typeface="Arial"/>
              </a:rPr>
              <a:t>D, 3D geometric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The geometric transformations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L</a:t>
            </a:r>
            <a:r>
              <a:rPr b="0" lang="vi-VN" sz="3200" spc="-1" strike="noStrike">
                <a:solidFill>
                  <a:schemeClr val="dk1"/>
                </a:solidFill>
                <a:latin typeface="Arial"/>
              </a:rPr>
              <a:t>ens distortions</a:t>
            </a:r>
            <a:r>
              <a:rPr b="0" lang="en-US" sz="3200" spc="-1" strike="noStrike">
                <a:solidFill>
                  <a:schemeClr val="dk1"/>
                </a:solidFill>
                <a:latin typeface="Arial"/>
              </a:rPr>
              <a:t>.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5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98989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A58A653-51F3-4324-AEAB-0FA23B90A03D}" type="slidenum">
              <a:rPr b="0" lang="en-US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r>
              <a:rPr b="0" lang="en-US" sz="1200" spc="-1" strike="noStrike">
                <a:solidFill>
                  <a:srgbClr val="898989"/>
                </a:solidFill>
                <a:latin typeface="Arial"/>
              </a:rPr>
              <a:t>/11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2996</TotalTime>
  <Application>LibreOffice/24.2.7.2$Linux_X86_64 LibreOffice_project/420$Build-2</Application>
  <AppVersion>15.0000</AppVersion>
  <Words>1139</Words>
  <Paragraphs>242</Paragraphs>
  <Company>FPT-Uni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2007-08-21T04:43:22Z</dcterms:created>
  <dc:creator>DuyDT</dc:creator>
  <dc:description/>
  <dc:language>en-US</dc:language>
  <cp:lastModifiedBy/>
  <dcterms:modified xsi:type="dcterms:W3CDTF">2026-06-12T21:46:19Z</dcterms:modified>
  <cp:revision>434</cp:revision>
  <dc:subject/>
  <dc:title>Core Java- Introduction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22</vt:i4>
  </property>
  <property fmtid="{D5CDD505-2E9C-101B-9397-08002B2CF9AE}" pid="3" name="PresentationFormat">
    <vt:lpwstr>On-screen Show (4:3)</vt:lpwstr>
  </property>
  <property fmtid="{D5CDD505-2E9C-101B-9397-08002B2CF9AE}" pid="4" name="Slides">
    <vt:i4>22</vt:i4>
  </property>
</Properties>
</file>