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1.jpeg" ContentType="image/jpeg"/>
  <Override PartName="/ppt/media/image10.png" ContentType="image/png"/>
  <Override PartName="/ppt/media/image6.png" ContentType="image/png"/>
  <Override PartName="/ppt/media/image15.png" ContentType="image/png"/>
  <Override PartName="/ppt/media/image2.jpeg" ContentType="image/jpeg"/>
  <Override PartName="/ppt/media/image5.png" ContentType="image/png"/>
  <Override PartName="/ppt/media/image14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338047-B6E2-404D-BA1D-04ED6772295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FA03A8-E33C-480F-B771-53E4CEA7551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024377-6150-400C-9C75-752AA33F1532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EC0E02-BF12-4F2D-BB31-ACE57C026A69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050979-D648-49FA-9A99-A09F215B09A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EB339E-B9A8-419F-8756-97D25D3FE9C5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700495-06B1-4CAB-AB04-484B157466C3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BCB862-C496-47FA-B2D8-B38C055D6273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AC97B4-0E9F-49D1-8879-541A28D50927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79AAD0-E462-436F-9821-5AE0B57081F5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DE0231-BBFE-4450-A7D8-B20BE06B928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2B480C-7524-4906-8030-A9617A7C74F2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681FD8-F88F-4326-A8AA-19CB6E95213C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753FCF-2D62-4026-BA4D-87FDAF3E4561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BA2E2F-1A22-402C-A269-CE97F2275292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F6F1C6-A840-4860-953A-BF8ABD8006A0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323202-8848-48A7-A814-AE35BC21BBC2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59D2E5-EC62-428E-9D41-C51BBFD298CC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94024C-8BAF-493E-BFC8-D8FE716FD006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C121D9-65A5-41AD-B004-166BC8D96F10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235DFD-DF41-4119-83AA-A472A5586B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7ED1BF-2118-4966-A867-51E465BD12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78F992C-C63E-4700-BE19-760F21B69F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BA01ACE-3F4A-4FA2-AB65-F4C1BF0B23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E32F9C3-8919-4300-870C-4386DC2F1E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058CCCB-7645-4B20-87F6-99556505C5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12A2015-3B82-4DAA-87BD-B31F8B4207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F553898-CDA5-4464-8E58-E2D79ECC3F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64967FF-3473-46D5-8739-4DDD1C4067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0B8738F-11FD-42BF-B432-E35AC2F946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52F0F21-3610-4FDF-ABF0-65FF4502E0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04920" y="2130480"/>
            <a:ext cx="84578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6629400"/>
            <a:ext cx="15235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2514600" y="6629400"/>
            <a:ext cx="42667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620120" y="6629400"/>
            <a:ext cx="10663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B87F7C-87DC-46D6-B9D5-4951A60487AD}" type="slidenum">
              <a:rPr b="0" lang="en-US" sz="1200" spc="-1" strike="noStrike">
                <a:solidFill>
                  <a:srgbClr val="002060"/>
                </a:solidFill>
                <a:latin typeface="Arial"/>
              </a:rPr>
              <a:t>11</a:t>
            </a:fld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EB2B43-FE58-466A-8E82-F4AA75AD71E6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C483F3-FD59-41DB-958D-0A2C4704E139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88584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C70199-BE8D-4F0D-8082-BBCF72755459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E10D07-BD29-4B65-9FEC-C5CB0F3BB674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8F97F3-85A8-4EDA-83A8-D5C13ECE0AB6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A7B7DD-27BD-4E18-A930-81CC15762594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A20A7A-4864-40F4-BC85-CC08DCE26A7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94A957-B4CB-4BE1-8963-DD5C828412CA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B6131B-1F5B-44A4-B765-629C811D5BA5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2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93FBFC-7F6E-469B-A1FE-648CBC7604E7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04920" y="1676520"/>
            <a:ext cx="8534160" cy="243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3600" spc="-1" strike="noStrike">
                <a:solidFill>
                  <a:srgbClr val="002060"/>
                </a:solidFill>
                <a:latin typeface="Arial"/>
              </a:rPr>
              <a:t>Motion Models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0000" y="45720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Objectives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80240" y="1447920"/>
            <a:ext cx="8457840" cy="518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3000" spc="-1" strike="noStrike">
                <a:solidFill>
                  <a:schemeClr val="dk1"/>
                </a:solidFill>
                <a:latin typeface="Calibri"/>
                <a:ea typeface="Calibri"/>
              </a:rPr>
              <a:t>What is image stitching ?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3000" spc="-1" strike="noStrike">
                <a:solidFill>
                  <a:schemeClr val="dk1"/>
                </a:solidFill>
                <a:latin typeface="Calibri"/>
                <a:ea typeface="Calibri"/>
              </a:rPr>
              <a:t>Understand about motion models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3000" spc="-1" strike="noStrike">
                <a:solidFill>
                  <a:schemeClr val="dk1"/>
                </a:solidFill>
                <a:latin typeface="Calibri"/>
                <a:ea typeface="Calibri"/>
              </a:rPr>
              <a:t>Study some motion model such as 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Calibri"/>
              </a:rPr>
              <a:t>Planar perspective motion, Rotational panoramas, Gap closing, Cylindrical and spherical coordinates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Calibri"/>
              </a:rPr>
              <a:t>Applications of </a:t>
            </a:r>
            <a:r>
              <a:rPr b="0" lang="vi-VN" sz="3000" spc="-1" strike="noStrike">
                <a:solidFill>
                  <a:schemeClr val="dk1"/>
                </a:solidFill>
                <a:latin typeface="Calibri"/>
                <a:ea typeface="Calibri"/>
              </a:rPr>
              <a:t>motion models</a:t>
            </a:r>
            <a:endParaRPr b="0" lang="en-US" sz="3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What is image stitching?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7" name="Picture 1" descr=""/>
          <p:cNvPicPr/>
          <p:nvPr/>
        </p:nvPicPr>
        <p:blipFill>
          <a:blip r:embed="rId1"/>
          <a:stretch/>
        </p:blipFill>
        <p:spPr>
          <a:xfrm>
            <a:off x="990720" y="1449720"/>
            <a:ext cx="5373720" cy="4975920"/>
          </a:xfrm>
          <a:prstGeom prst="rect">
            <a:avLst/>
          </a:prstGeom>
          <a:ln w="0">
            <a:noFill/>
          </a:ln>
        </p:spPr>
      </p:pic>
      <p:sp>
        <p:nvSpPr>
          <p:cNvPr id="88" name="TextBox 4"/>
          <p:cNvSpPr/>
          <p:nvPr/>
        </p:nvSpPr>
        <p:spPr>
          <a:xfrm>
            <a:off x="5985720" y="2144880"/>
            <a:ext cx="1755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 </a:t>
            </a: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or 2 images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324480" y="3937680"/>
            <a:ext cx="2819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ny stitching application do you know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Image stitching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76520"/>
            <a:ext cx="8229240" cy="467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Image stitching is the process of combining multiple photographic images with overlapping fields of view to produce a segmented panorama or high-resolution image.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Image stitching is a widely used technique for recovering original data from ripped data.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Image stitching is used in forensic and investigative science for the reconstruction of torn paper which is a big problem.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 image mapping, stitching of images is done to do the complete mapping of a particular place.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Motion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98240" y="3657600"/>
            <a:ext cx="8229240" cy="2701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How to estimate pixel motion from image I(x,y,t) to I(x,y,t+1) ?•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5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Solve pixel correspondence problem– given a pixel in I(x,y,t), look for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nearby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pixels of the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same color 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in I(x,y,t+1)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</a:t>
            </a: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his is called the optical flow problem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4" name="Picture 4" descr=""/>
          <p:cNvPicPr/>
          <p:nvPr/>
        </p:nvPicPr>
        <p:blipFill>
          <a:blip r:embed="rId1"/>
          <a:stretch/>
        </p:blipFill>
        <p:spPr>
          <a:xfrm>
            <a:off x="2514600" y="1459800"/>
            <a:ext cx="4343040" cy="171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Optical flow problem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76520"/>
            <a:ext cx="8229240" cy="467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Intensity equation: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 the limit as u and v go to zero, this becomes exact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Brightness constancy constraint equation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7" name="Picture 1" descr=""/>
          <p:cNvPicPr/>
          <p:nvPr/>
        </p:nvPicPr>
        <p:blipFill>
          <a:blip r:embed="rId1"/>
          <a:stretch/>
        </p:blipFill>
        <p:spPr>
          <a:xfrm>
            <a:off x="3886200" y="1805040"/>
            <a:ext cx="4343040" cy="185220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2" descr=""/>
          <p:cNvPicPr/>
          <p:nvPr/>
        </p:nvPicPr>
        <p:blipFill>
          <a:blip r:embed="rId2"/>
          <a:stretch/>
        </p:blipFill>
        <p:spPr>
          <a:xfrm>
            <a:off x="4267080" y="4343400"/>
            <a:ext cx="1968120" cy="32904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4" descr=""/>
          <p:cNvPicPr/>
          <p:nvPr/>
        </p:nvPicPr>
        <p:blipFill>
          <a:blip r:embed="rId3"/>
          <a:stretch/>
        </p:blipFill>
        <p:spPr>
          <a:xfrm>
            <a:off x="4202640" y="5410080"/>
            <a:ext cx="2018880" cy="36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Planar perspective motion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76520"/>
            <a:ext cx="8229240" cy="467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Aligning images is to simply translate and rotate them in 2D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This is exactly the same kind of motion that you would use if you had overlapping photographic prints.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perspective transformation deals with the conversion of 3d world into 2d image.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866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Planar perspective motion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3" name="Content Placeholder 2" descr=""/>
          <p:cNvPicPr/>
          <p:nvPr/>
        </p:nvPicPr>
        <p:blipFill>
          <a:blip r:embed="rId1"/>
          <a:stretch/>
        </p:blipFill>
        <p:spPr>
          <a:xfrm>
            <a:off x="1143000" y="1816560"/>
            <a:ext cx="3682440" cy="452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Application: Whiteboard and document scanning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9240" cy="429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most obvious application is used in scanning large documents - beyond the size of the scanner--&gt; so what is the solution?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We simply use multiple scanners, scan parts of the document, and then stitching them together.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Note that the component images must overlap with amount enough so as not to miss any feature of the other large document.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Rotational panoramas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4876560" cy="429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Assume the camera is doing pure 3D rotation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 most common panoramic image stitching, e.g., when taking images of the Grand Canyon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Assumes that all points are very far from the camera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8" name="Picture 1" descr=""/>
          <p:cNvPicPr/>
          <p:nvPr/>
        </p:nvPicPr>
        <p:blipFill>
          <a:blip r:embed="rId1"/>
          <a:stretch/>
        </p:blipFill>
        <p:spPr>
          <a:xfrm>
            <a:off x="5441760" y="2644920"/>
            <a:ext cx="3244680" cy="312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Rotational panoramas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000640" cy="429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In this case simplified homography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457200" indent="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Where K the camera intrinsic matrix assuming cx = cy = 0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320"/>
              </a:spcBef>
              <a:buClr>
                <a:srgbClr val="558ed5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This can be written as 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320"/>
              </a:spcBef>
              <a:buClr>
                <a:srgbClr val="558ed5"/>
              </a:buClr>
              <a:buSzPct val="8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Or more explicily 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1" name="Picture 2" descr=""/>
          <p:cNvPicPr/>
          <p:nvPr/>
        </p:nvPicPr>
        <p:blipFill>
          <a:blip r:embed="rId1"/>
          <a:stretch/>
        </p:blipFill>
        <p:spPr>
          <a:xfrm>
            <a:off x="2209680" y="2514600"/>
            <a:ext cx="3835080" cy="479160"/>
          </a:xfrm>
          <a:prstGeom prst="rect">
            <a:avLst/>
          </a:prstGeom>
          <a:ln w="0">
            <a:noFill/>
          </a:ln>
        </p:spPr>
      </p:pic>
      <p:pic>
        <p:nvPicPr>
          <p:cNvPr id="112" name="Picture 4" descr=""/>
          <p:cNvPicPr/>
          <p:nvPr/>
        </p:nvPicPr>
        <p:blipFill>
          <a:blip r:embed="rId2"/>
          <a:stretch/>
        </p:blipFill>
        <p:spPr>
          <a:xfrm>
            <a:off x="1905120" y="3886200"/>
            <a:ext cx="5105160" cy="102204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5" descr=""/>
          <p:cNvPicPr/>
          <p:nvPr/>
        </p:nvPicPr>
        <p:blipFill>
          <a:blip r:embed="rId3"/>
          <a:stretch/>
        </p:blipFill>
        <p:spPr>
          <a:xfrm>
            <a:off x="1905120" y="5215320"/>
            <a:ext cx="2329920" cy="111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Rotational panoramas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3733920"/>
            <a:ext cx="4266720" cy="2622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 images taken with a hand-held camera registered using a 3D rotation motion model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6" name="Picture 1" descr=""/>
          <p:cNvPicPr/>
          <p:nvPr/>
        </p:nvPicPr>
        <p:blipFill>
          <a:blip r:embed="rId1"/>
          <a:stretch/>
        </p:blipFill>
        <p:spPr>
          <a:xfrm>
            <a:off x="4648320" y="1977480"/>
            <a:ext cx="3924000" cy="437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Gap closing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81400" y="5490000"/>
            <a:ext cx="4038120" cy="1066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 gap is visible when the focal length is wrong (f = 510).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Content Placeholder 2"/>
          <p:cNvSpPr/>
          <p:nvPr/>
        </p:nvSpPr>
        <p:spPr>
          <a:xfrm>
            <a:off x="4876920" y="5493240"/>
            <a:ext cx="3809520" cy="7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No gap is visible for the correct focal length (f = 468).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1" descr=""/>
          <p:cNvPicPr/>
          <p:nvPr/>
        </p:nvPicPr>
        <p:blipFill>
          <a:blip r:embed="rId1"/>
          <a:stretch/>
        </p:blipFill>
        <p:spPr>
          <a:xfrm>
            <a:off x="375480" y="1760040"/>
            <a:ext cx="8488800" cy="362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Cylindrical and Spherical Coordinates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000640" cy="429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An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alternative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to using homographies or 3D motions to align images is to first warp the images into cylindrical coordinates and then use a pure translational model to align them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This only works if the images are all taken with a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level camera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or with a known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tilt angle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Assume for now that the camera is in its canonical position, i.e., R = I and the optical axis is aligned with the z axis and the y axis is aligned vertically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We wish to project this image onto a cylindrical surface of unit radius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Points on this surface are parameterized by an angle θ and a height h with the 3D cylindrical given by (sin θ, h, cos θ) ∝ (x, y, f )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Cylindrical and Spherical Coordinates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4876560" cy="4298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We can compute the correspondence between warped and mapped coordinates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5" name="Picture 1" descr=""/>
          <p:cNvPicPr/>
          <p:nvPr/>
        </p:nvPicPr>
        <p:blipFill>
          <a:blip r:embed="rId1"/>
          <a:stretch/>
        </p:blipFill>
        <p:spPr>
          <a:xfrm>
            <a:off x="5423040" y="2549160"/>
            <a:ext cx="3263400" cy="171504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2" descr=""/>
          <p:cNvPicPr/>
          <p:nvPr/>
        </p:nvPicPr>
        <p:blipFill>
          <a:blip r:embed="rId2"/>
          <a:stretch/>
        </p:blipFill>
        <p:spPr>
          <a:xfrm>
            <a:off x="1447920" y="3284280"/>
            <a:ext cx="2666520" cy="124164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4" descr=""/>
          <p:cNvPicPr/>
          <p:nvPr/>
        </p:nvPicPr>
        <p:blipFill>
          <a:blip r:embed="rId3"/>
          <a:stretch/>
        </p:blipFill>
        <p:spPr>
          <a:xfrm>
            <a:off x="1376640" y="4754880"/>
            <a:ext cx="6087240" cy="134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Cylindrical Panorama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4527360"/>
            <a:ext cx="8000640" cy="182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Cylindrical is used if the camera is level and we have only rotation around its vertical axis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Then we only need to estimate a translation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0" name="Picture 1" descr=""/>
          <p:cNvPicPr/>
          <p:nvPr/>
        </p:nvPicPr>
        <p:blipFill>
          <a:blip r:embed="rId1"/>
          <a:stretch/>
        </p:blipFill>
        <p:spPr>
          <a:xfrm>
            <a:off x="491400" y="1905120"/>
            <a:ext cx="8229240" cy="254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Spherical Projection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62640" y="4191120"/>
            <a:ext cx="7495200" cy="216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while the inverse is given by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3" name="Picture 1" descr=""/>
          <p:cNvPicPr/>
          <p:nvPr/>
        </p:nvPicPr>
        <p:blipFill>
          <a:blip r:embed="rId1"/>
          <a:stretch/>
        </p:blipFill>
        <p:spPr>
          <a:xfrm>
            <a:off x="4572000" y="1676520"/>
            <a:ext cx="2933280" cy="17521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2" descr=""/>
          <p:cNvPicPr/>
          <p:nvPr/>
        </p:nvPicPr>
        <p:blipFill>
          <a:blip r:embed="rId2"/>
          <a:stretch/>
        </p:blipFill>
        <p:spPr>
          <a:xfrm>
            <a:off x="962640" y="2590920"/>
            <a:ext cx="3863520" cy="13795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4" descr=""/>
          <p:cNvPicPr/>
          <p:nvPr/>
        </p:nvPicPr>
        <p:blipFill>
          <a:blip r:embed="rId3"/>
          <a:stretch/>
        </p:blipFill>
        <p:spPr>
          <a:xfrm>
            <a:off x="962640" y="4648320"/>
            <a:ext cx="7415640" cy="132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123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Application: Video summarization and compression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5410080"/>
            <a:ext cx="8686440" cy="945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Video stitching the background scene to create a single </a:t>
            </a:r>
            <a:r>
              <a:rPr b="0" i="1" lang="en-US" sz="2000" spc="-1" strike="noStrike">
                <a:solidFill>
                  <a:schemeClr val="dk1"/>
                </a:solidFill>
                <a:latin typeface="Arial"/>
              </a:rPr>
              <a:t>sprite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image that can be transmitted and used to re-create the background in each frame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8" name="Picture 1" descr=""/>
          <p:cNvPicPr/>
          <p:nvPr/>
        </p:nvPicPr>
        <p:blipFill>
          <a:blip r:embed="rId1"/>
          <a:stretch/>
        </p:blipFill>
        <p:spPr>
          <a:xfrm>
            <a:off x="664920" y="1886040"/>
            <a:ext cx="8000640" cy="341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1012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Summary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2800" spc="-1" strike="noStrike">
                <a:solidFill>
                  <a:schemeClr val="dk1"/>
                </a:solidFill>
                <a:latin typeface="Calibri"/>
                <a:ea typeface="Calibri"/>
              </a:rPr>
              <a:t>What is image stitching ?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2800" spc="-1" strike="noStrike">
                <a:solidFill>
                  <a:schemeClr val="dk1"/>
                </a:solidFill>
                <a:latin typeface="Calibri"/>
                <a:ea typeface="Calibri"/>
              </a:rPr>
              <a:t>Understand about motion models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vi-VN" sz="2800" spc="-1" strike="noStrike">
                <a:solidFill>
                  <a:schemeClr val="dk1"/>
                </a:solidFill>
                <a:latin typeface="Calibri"/>
                <a:ea typeface="Calibri"/>
              </a:rPr>
              <a:t>Study some motion model such as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Planar perspective motion, Rotational panoramas, Gap closing, Cylindrical and spherical coordinates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Applications of </a:t>
            </a:r>
            <a:r>
              <a:rPr b="0" lang="vi-VN" sz="2800" spc="-1" strike="noStrike">
                <a:solidFill>
                  <a:schemeClr val="dk1"/>
                </a:solidFill>
                <a:latin typeface="Calibri"/>
                <a:ea typeface="Calibri"/>
              </a:rPr>
              <a:t>motion models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6946</TotalTime>
  <Application>LibreOffice/24.2.7.2$Linux_X86_64 LibreOffice_project/420$Build-2</Application>
  <AppVersion>15.0000</AppVersion>
  <Words>706</Words>
  <Paragraphs>91</Paragraphs>
  <Company>FPT-Uni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2007-08-21T04:43:22Z</dcterms:created>
  <dc:creator>DuyDT</dc:creator>
  <dc:description/>
  <dc:language>en-US</dc:language>
  <cp:lastModifiedBy/>
  <dcterms:modified xsi:type="dcterms:W3CDTF">2026-06-30T08:21:23Z</dcterms:modified>
  <cp:revision>824</cp:revision>
  <dc:subject/>
  <dc:title>Core Java-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(4:3)</vt:lpwstr>
  </property>
  <property fmtid="{D5CDD505-2E9C-101B-9397-08002B2CF9AE}" pid="4" name="Slides">
    <vt:i4>19</vt:i4>
  </property>
</Properties>
</file>